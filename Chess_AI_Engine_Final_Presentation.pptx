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DBB8F-69B7-4599-B403-2E17C2F548A2}" v="80" dt="2026-10-28T13:25:27.44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063" autoAdjust="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211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shant Ambaliya" userId="77ce5dc213ff616a" providerId="LiveId" clId="{65E22951-92F9-466A-A1EC-0C7FB1E03D8B}"/>
    <pc:docChg chg="undo custSel modSld modMainMaster">
      <pc:chgData name="Nishant Ambaliya" userId="77ce5dc213ff616a" providerId="LiveId" clId="{65E22951-92F9-466A-A1EC-0C7FB1E03D8B}" dt="2026-10-28T13:25:44.973" v="259" actId="1037"/>
      <pc:docMkLst>
        <pc:docMk/>
      </pc:docMkLst>
      <pc:sldChg chg="addSp delSp modSp mod modTransition setBg addAnim delAnim modAnim">
        <pc:chgData name="Nishant Ambaliya" userId="77ce5dc213ff616a" providerId="LiveId" clId="{65E22951-92F9-466A-A1EC-0C7FB1E03D8B}" dt="2026-10-28T13:22:30.369" v="104"/>
        <pc:sldMkLst>
          <pc:docMk/>
          <pc:sldMk cId="0" sldId="256"/>
        </pc:sldMkLst>
        <pc:spChg chg="add del mod">
          <ac:chgData name="Nishant Ambaliya" userId="77ce5dc213ff616a" providerId="LiveId" clId="{65E22951-92F9-466A-A1EC-0C7FB1E03D8B}" dt="2026-10-28T13:22:27.846" v="102" actId="207"/>
          <ac:spMkLst>
            <pc:docMk/>
            <pc:sldMk cId="0" sldId="256"/>
            <ac:spMk id="2" creationId="{00000000-0000-0000-0000-000000000000}"/>
          </ac:spMkLst>
        </pc:spChg>
      </pc:sldChg>
      <pc:sldChg chg="modTransition setBg addAnim delAnim modAnim">
        <pc:chgData name="Nishant Ambaliya" userId="77ce5dc213ff616a" providerId="LiveId" clId="{65E22951-92F9-466A-A1EC-0C7FB1E03D8B}" dt="2026-10-28T13:20:44.378" v="82"/>
        <pc:sldMkLst>
          <pc:docMk/>
          <pc:sldMk cId="0" sldId="257"/>
        </pc:sldMkLst>
      </pc:sldChg>
      <pc:sldChg chg="modSp mod modTransition setBg">
        <pc:chgData name="Nishant Ambaliya" userId="77ce5dc213ff616a" providerId="LiveId" clId="{65E22951-92F9-466A-A1EC-0C7FB1E03D8B}" dt="2026-10-28T13:23:20.607" v="190" actId="1036"/>
        <pc:sldMkLst>
          <pc:docMk/>
          <pc:sldMk cId="0" sldId="258"/>
        </pc:sldMkLst>
        <pc:spChg chg="mod">
          <ac:chgData name="Nishant Ambaliya" userId="77ce5dc213ff616a" providerId="LiveId" clId="{65E22951-92F9-466A-A1EC-0C7FB1E03D8B}" dt="2026-10-28T13:23:20.607" v="190" actId="1036"/>
          <ac:spMkLst>
            <pc:docMk/>
            <pc:sldMk cId="0" sldId="258"/>
            <ac:spMk id="2" creationId="{00000000-0000-0000-0000-000000000000}"/>
          </ac:spMkLst>
        </pc:spChg>
        <pc:spChg chg="mod">
          <ac:chgData name="Nishant Ambaliya" userId="77ce5dc213ff616a" providerId="LiveId" clId="{65E22951-92F9-466A-A1EC-0C7FB1E03D8B}" dt="2026-10-28T13:22:58.584" v="105" actId="207"/>
          <ac:spMkLst>
            <pc:docMk/>
            <pc:sldMk cId="0" sldId="258"/>
            <ac:spMk id="7" creationId="{00000000-0000-0000-0000-000000000000}"/>
          </ac:spMkLst>
        </pc:spChg>
      </pc:sldChg>
      <pc:sldChg chg="modTransition setBg">
        <pc:chgData name="Nishant Ambaliya" userId="77ce5dc213ff616a" providerId="LiveId" clId="{65E22951-92F9-466A-A1EC-0C7FB1E03D8B}" dt="2026-10-28T13:20:44.378" v="82"/>
        <pc:sldMkLst>
          <pc:docMk/>
          <pc:sldMk cId="0" sldId="259"/>
        </pc:sldMkLst>
      </pc:sldChg>
      <pc:sldChg chg="modTransition setBg">
        <pc:chgData name="Nishant Ambaliya" userId="77ce5dc213ff616a" providerId="LiveId" clId="{65E22951-92F9-466A-A1EC-0C7FB1E03D8B}" dt="2026-10-28T13:20:44.378" v="82"/>
        <pc:sldMkLst>
          <pc:docMk/>
          <pc:sldMk cId="0" sldId="260"/>
        </pc:sldMkLst>
      </pc:sldChg>
      <pc:sldChg chg="modSp mod modTransition setBg">
        <pc:chgData name="Nishant Ambaliya" userId="77ce5dc213ff616a" providerId="LiveId" clId="{65E22951-92F9-466A-A1EC-0C7FB1E03D8B}" dt="2026-10-28T13:24:08.145" v="195" actId="1076"/>
        <pc:sldMkLst>
          <pc:docMk/>
          <pc:sldMk cId="0" sldId="261"/>
        </pc:sldMkLst>
        <pc:spChg chg="mod">
          <ac:chgData name="Nishant Ambaliya" userId="77ce5dc213ff616a" providerId="LiveId" clId="{65E22951-92F9-466A-A1EC-0C7FB1E03D8B}" dt="2026-10-28T13:23:34.994" v="191" actId="207"/>
          <ac:spMkLst>
            <pc:docMk/>
            <pc:sldMk cId="0" sldId="261"/>
            <ac:spMk id="7" creationId="{00000000-0000-0000-0000-000000000000}"/>
          </ac:spMkLst>
        </pc:spChg>
        <pc:spChg chg="mod">
          <ac:chgData name="Nishant Ambaliya" userId="77ce5dc213ff616a" providerId="LiveId" clId="{65E22951-92F9-466A-A1EC-0C7FB1E03D8B}" dt="2026-10-28T13:23:59.709" v="194" actId="1076"/>
          <ac:spMkLst>
            <pc:docMk/>
            <pc:sldMk cId="0" sldId="261"/>
            <ac:spMk id="9" creationId="{00000000-0000-0000-0000-000000000000}"/>
          </ac:spMkLst>
        </pc:spChg>
        <pc:spChg chg="mod">
          <ac:chgData name="Nishant Ambaliya" userId="77ce5dc213ff616a" providerId="LiveId" clId="{65E22951-92F9-466A-A1EC-0C7FB1E03D8B}" dt="2026-10-28T13:24:08.145" v="195" actId="1076"/>
          <ac:spMkLst>
            <pc:docMk/>
            <pc:sldMk cId="0" sldId="261"/>
            <ac:spMk id="10" creationId="{00000000-0000-0000-0000-000000000000}"/>
          </ac:spMkLst>
        </pc:spChg>
      </pc:sldChg>
      <pc:sldChg chg="modTransition setBg">
        <pc:chgData name="Nishant Ambaliya" userId="77ce5dc213ff616a" providerId="LiveId" clId="{65E22951-92F9-466A-A1EC-0C7FB1E03D8B}" dt="2026-10-28T13:20:44.378" v="82"/>
        <pc:sldMkLst>
          <pc:docMk/>
          <pc:sldMk cId="0" sldId="262"/>
        </pc:sldMkLst>
      </pc:sldChg>
      <pc:sldChg chg="modTransition setBg">
        <pc:chgData name="Nishant Ambaliya" userId="77ce5dc213ff616a" providerId="LiveId" clId="{65E22951-92F9-466A-A1EC-0C7FB1E03D8B}" dt="2026-10-28T13:20:44.378" v="82"/>
        <pc:sldMkLst>
          <pc:docMk/>
          <pc:sldMk cId="0" sldId="263"/>
        </pc:sldMkLst>
      </pc:sldChg>
      <pc:sldChg chg="modTransition setBg">
        <pc:chgData name="Nishant Ambaliya" userId="77ce5dc213ff616a" providerId="LiveId" clId="{65E22951-92F9-466A-A1EC-0C7FB1E03D8B}" dt="2026-10-28T13:20:44.378" v="82"/>
        <pc:sldMkLst>
          <pc:docMk/>
          <pc:sldMk cId="0" sldId="264"/>
        </pc:sldMkLst>
      </pc:sldChg>
      <pc:sldChg chg="modTransition setBg">
        <pc:chgData name="Nishant Ambaliya" userId="77ce5dc213ff616a" providerId="LiveId" clId="{65E22951-92F9-466A-A1EC-0C7FB1E03D8B}" dt="2026-10-28T13:20:44.378" v="82"/>
        <pc:sldMkLst>
          <pc:docMk/>
          <pc:sldMk cId="0" sldId="265"/>
        </pc:sldMkLst>
      </pc:sldChg>
      <pc:sldChg chg="modTransition setBg">
        <pc:chgData name="Nishant Ambaliya" userId="77ce5dc213ff616a" providerId="LiveId" clId="{65E22951-92F9-466A-A1EC-0C7FB1E03D8B}" dt="2026-10-28T13:20:44.378" v="82"/>
        <pc:sldMkLst>
          <pc:docMk/>
          <pc:sldMk cId="0" sldId="266"/>
        </pc:sldMkLst>
      </pc:sldChg>
      <pc:sldChg chg="modTransition setBg">
        <pc:chgData name="Nishant Ambaliya" userId="77ce5dc213ff616a" providerId="LiveId" clId="{65E22951-92F9-466A-A1EC-0C7FB1E03D8B}" dt="2026-10-28T13:20:44.378" v="82"/>
        <pc:sldMkLst>
          <pc:docMk/>
          <pc:sldMk cId="0" sldId="267"/>
        </pc:sldMkLst>
      </pc:sldChg>
      <pc:sldChg chg="modSp mod modTransition setBg">
        <pc:chgData name="Nishant Ambaliya" userId="77ce5dc213ff616a" providerId="LiveId" clId="{65E22951-92F9-466A-A1EC-0C7FB1E03D8B}" dt="2026-10-28T13:25:44.973" v="259" actId="1037"/>
        <pc:sldMkLst>
          <pc:docMk/>
          <pc:sldMk cId="0" sldId="268"/>
        </pc:sldMkLst>
        <pc:spChg chg="mod">
          <ac:chgData name="Nishant Ambaliya" userId="77ce5dc213ff616a" providerId="LiveId" clId="{65E22951-92F9-466A-A1EC-0C7FB1E03D8B}" dt="2026-10-28T13:25:44.973" v="259" actId="1037"/>
          <ac:spMkLst>
            <pc:docMk/>
            <pc:sldMk cId="0" sldId="268"/>
            <ac:spMk id="18" creationId="{00000000-0000-0000-0000-000000000000}"/>
          </ac:spMkLst>
        </pc:spChg>
      </pc:sldChg>
      <pc:sldMasterChg chg="modTransition setBg modSldLayout">
        <pc:chgData name="Nishant Ambaliya" userId="77ce5dc213ff616a" providerId="LiveId" clId="{65E22951-92F9-466A-A1EC-0C7FB1E03D8B}" dt="2026-10-28T13:20:08.514" v="80"/>
        <pc:sldMasterMkLst>
          <pc:docMk/>
          <pc:sldMasterMk cId="2209977519" sldId="2147483648"/>
        </pc:sldMasterMkLst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3168075583" sldId="2147483649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2614314258" sldId="2147483650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960648375" sldId="2147483651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2782244947" sldId="2147483652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990158736" sldId="2147483653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727027711" sldId="2147483654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1212999818" sldId="2147483655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1840726560" sldId="2147483656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3889236939" sldId="2147483657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2910927964" sldId="2147483658"/>
          </pc:sldLayoutMkLst>
        </pc:sldLayoutChg>
        <pc:sldLayoutChg chg="modTransition setBg">
          <pc:chgData name="Nishant Ambaliya" userId="77ce5dc213ff616a" providerId="LiveId" clId="{65E22951-92F9-466A-A1EC-0C7FB1E03D8B}" dt="2026-10-28T13:20:08.514" v="80"/>
          <pc:sldLayoutMkLst>
            <pc:docMk/>
            <pc:sldMasterMk cId="2209977519" sldId="2147483648"/>
            <pc:sldLayoutMk cId="3612223792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520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1: Introduce project context. Highlight the combinatorial explosion of chess (Shannon number 10^120) and explain why real-time multi-agent decision systems require sub-second heuristic pruning.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2: Formally specify the AI agent using the PEAS model. Point out that the environment is fully observable and deterministic, justifying minimax search optimality.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3: Explain the exponential growth of chess search trees. Point out that at b=35, Depth 4 reaches 1.5 million nodes, proving unpruned Minimax is unviable for interactive games.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4: Detail how the board state is ingested, validated, and updated. Emphasize the strict handling of castling, en passant, and promotions with authoritative state versioning.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5: Compare theoretical complexities. Emphasize that Alpha-Beta pruning produces the exact same move as Minimax, but cuts search complexity from O(b^d) down to O(b^(d/2)).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6: Explain the heuristic formulation and the MVV-LVA sorting priority ladder. Point out that checking high-value captures first guarantees the alpha threshold rises early, maximizing pruning.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7: Outline the 4 benchmark test scenarios spanning low, tactical, positional, and endgame branching. Explain that tests were executed in an isolated single-threaded harness to record runtime, nodes, and cuts.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8: Highlight the software engineering rigor. Point out that 23 automated tests verify algorithmic equivalence, rules adherence, and DoS safety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9: Present the empirical node reduction metrics. Highlight the headline number: a 97.2% leaf evaluation reduction in the positional middlegame.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10: Show the dramatic runtime speedup. Point out the 26.5x speedup in the positional middlegame, cutting wait time from 9.5s to 358ms.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11: Honestly address algorithmic limitations: the horizon effect, lack of transposition tables, and Python execution speed boundaries.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12: Conclude the formal presentation. Summarize key achievements, discuss ethical transparency, and outline future enhancements (quiescence search and opening books).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Slide 13: Transition to the live software demonstration. Show real-time move execution, the live telemetry HUD, and demonstrate the seamless restart and review board features.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chess-game-ulzx.onrender.com/" TargetMode="Externa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rPr dirty="0"/>
              <a:t>REAL-TIME ADVERSARIAL CHESS AI ENGINE</a:t>
            </a:r>
          </a:p>
          <a:p>
            <a:pPr algn="ctr">
              <a:defRPr sz="1800">
                <a:solidFill>
                  <a:srgbClr val="06B6D4"/>
                </a:solidFill>
              </a:defRPr>
            </a:pPr>
            <a:r>
              <a:rPr dirty="0"/>
              <a:t>Heuristic Search Optimization, Alpha-Beta Pruning &amp; MVV-LVA Move Ordering</a:t>
            </a:r>
          </a:p>
          <a:p>
            <a:pPr algn="ctr">
              <a:defRPr sz="1400">
                <a:solidFill>
                  <a:srgbClr val="9CA3AF"/>
                </a:solidFill>
              </a:defRPr>
            </a:pPr>
            <a:r>
              <a:rPr dirty="0"/>
              <a:t>Autonomous Multi-Agent Adversarial System under Strict Real-Time Latency Budgets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" y="3657600"/>
            <a:ext cx="320040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3794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SHANNON NUMBER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10¹²⁰ Possible Games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State space complexity defies raw brute force. Intelligent mathematical pruning is mandatory.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3657600"/>
            <a:ext cx="320040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663440" y="3794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LATENCY BUDGET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63440" y="4297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&lt; 1,000 ms Ceiling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Real-time human gameplay requires sub-second turn turnaround across web &amp; mobile devices.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3657600"/>
            <a:ext cx="3200400" cy="219456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29600" y="379476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ADVERSARIAL ZERO-SUM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429768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Minimax Optimal</a:t>
            </a:r>
          </a:p>
          <a:p>
            <a:pPr>
              <a:defRPr sz="1200">
                <a:solidFill>
                  <a:srgbClr val="9CA3AF"/>
                </a:solidFill>
              </a:defRPr>
            </a:pPr>
            <a:r>
              <a:t>Guarantees mathematically optimal moves against a rational counter-adversary.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1–2: MOTIVATION &amp;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Problem Statement &amp; The PEAS Framework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PERFORMANCE MEASURE (P)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•  Centipawn Advantage: Material balance + PeSTO table position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Terminal Victory: Immediate +100,000 cp checkmate utility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Pruning Efficiency: &gt; 85% search space reduction goal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Turn Response: &lt; 500 ms target interactive search latency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ENVIRONMENT (E)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•  Fully Observable: 64 squares known at all times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Deterministic: No stochastic transitions or dice rolls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Discrete &amp; Sequential: Alternating White/Black plies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Zero-Sum: Max payoff directly equals Min loss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512064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416052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ACTUATORS 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572000"/>
            <a:ext cx="4754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•  Legal UCI Moves: 'e2e4', 'g1f3', 'e7e8q'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Special Operations: Castling flags &amp; En Passant execution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Pawn Promotion: Promotion modal selection (Q, R, B, N)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WebSocket Frames: Asynchronous state dispatch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023360"/>
            <a:ext cx="521208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416052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SENSORS (S)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572000"/>
            <a:ext cx="48463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•  FEN Ingestion: Full board state string deserialization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Bitboard Masks: 64-bit occupancy &amp; attack vector maps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Rule Counters: 50-move rule &amp; 3-fold repetition detection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Client Events: Click coordinates &amp; session connection events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6934" y="-16923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3–4: STATE SPACE &amp;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State Space &amp; Branching Factor Analysis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EXPONENTIAL TREE EXPANSION: O(b^d)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512064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rPr dirty="0"/>
              <a:t>Depth 0 (Root):    1 Position         (Turn begins)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rPr dirty="0"/>
              <a:t>Depth 1 (Ply 1):   20 to 35 Nodes     (Average b ≈ 35)</a:t>
            </a:r>
          </a:p>
          <a:p>
            <a:pPr>
              <a:defRPr sz="1300" b="1">
                <a:solidFill>
                  <a:srgbClr val="06B6D4"/>
                </a:solidFill>
              </a:defRPr>
            </a:pPr>
            <a:r>
              <a:rPr dirty="0"/>
              <a:t>Depth 2 (Ply 2):   1,225 Nodes        (1-ply each side)</a:t>
            </a:r>
          </a:p>
          <a:p>
            <a:pPr>
              <a:defRPr sz="1300" b="1">
                <a:solidFill>
                  <a:srgbClr val="F59E0B"/>
                </a:solidFill>
              </a:defRPr>
            </a:pPr>
            <a:r>
              <a:rPr dirty="0"/>
              <a:t>Depth 3 (Ply 3):   42,875 Nodes       (Tactical threshold)</a:t>
            </a:r>
          </a:p>
          <a:p>
            <a:pPr>
              <a:defRPr sz="1300" b="1">
                <a:solidFill>
                  <a:srgbClr val="EF4444"/>
                </a:solidFill>
              </a:defRPr>
            </a:pPr>
            <a:r>
              <a:rPr dirty="0"/>
              <a:t>Depth 4 (Ply 4):   1,500,625 Nodes    (~10 sec unpruned!)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Theoretical Formula:  N(d) = </a:t>
            </a:r>
            <a:r>
              <a:rPr dirty="0" err="1">
                <a:solidFill>
                  <a:schemeClr val="bg1"/>
                </a:solidFill>
              </a:rPr>
              <a:t>b^d</a:t>
            </a:r>
            <a:endParaRPr dirty="0">
              <a:solidFill>
                <a:schemeClr val="bg1"/>
              </a:solidFill>
            </a:endParaRPr>
          </a:p>
          <a:p>
            <a:pPr>
              <a:defRPr sz="1200">
                <a:solidFill>
                  <a:srgbClr val="9CA3AF"/>
                </a:solidFill>
              </a:defRPr>
            </a:pPr>
            <a:r>
              <a:rPr dirty="0"/>
              <a:t>At middlegame branching b ≈ 35, evaluating depth 4 exhaustively collapses real-time throughput.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463040"/>
            <a:ext cx="493776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675120" y="16002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BRANCHING CHALLENGE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201168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•  Opening phase: Average b = 20 legal moves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Middlegame phase: Average b = 35 to 44 legal moves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Endgame phase: Drops to b = 15 moves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Raw Minimax search depth ceiling is restricted to d = 2 in interactive play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4023360"/>
            <a:ext cx="4937760" cy="22860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675120" y="41605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PRUNING IMPERATIVE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457200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•  Alpha-Beta reduces effective branching to b_eff ≈ sqrt(b) ≈ 5.9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Allows reaching Depth 4 in &lt; 400 ms instead of &gt; 9,000 ms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Move ordering is essential to reach optimal O(b^(d/2)) best case</a:t>
            </a:r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•  Zero accuracy loss: Identical best move and evaluation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3–4: STATE SPACE &amp; OPERATORS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Action Operators &amp; Knowledge Representation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1. INGESTION &amp; PARSING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•  FEN Serialization: Compact 6-field string tracks board, turn, castling, en passant, halfmove, fullmove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Bitboard Representation: 64-bit integer masks for piece occupancy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Zobrist Hashing: Fast O(1) transposition identification</a:t>
            </a:r>
            <a:br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SPECIAL ACTION OPERATORS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•  Castling Rights: Validates path clearance and non-attacked transit squares (O-O, O-O-O)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En Passant: Detects pawn double-step; executes diagonal capture on passed pawn square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Pawn Promotion: Rank 8 triggers dialog offering Queen, Rook, Bishop, Knight</a:t>
            </a:r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AUTHORITATIVE MUTATION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•  State Versioning: Monotonic game_version counter discards delayed search threads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Server-Side Rules: Authoritative python-chess board rejects illegal client moves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Material Balance: Real-time centipawn delta and captured trays calculation</a:t>
            </a:r>
            <a:br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5–6: ALGORITHMS &amp;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Core Algorithms &amp; Theoretical Complexity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4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746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Metric / Parameter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Pure Minimax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Canonical Alpha-Beta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10B981"/>
                          </a:solidFill>
                        </a:defRPr>
                      </a:pPr>
                      <a:r>
                        <a:t>Alpha-Beta + Move Ordering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6B6D4"/>
                          </a:solidFill>
                        </a:defRPr>
                      </a:pPr>
                      <a:r>
                        <a:t>Best-Case Complexity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O(b^d)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O(b^(d/2))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O(b^(d/2))  [Consistently Achieved]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6B6D4"/>
                          </a:solidFill>
                        </a:defRPr>
                      </a:pPr>
                      <a:r>
                        <a:t>Worst-Case Complexity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O(b^d)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O(b^d)  [Hostile Order]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O(b^(d/2))  [Guarded by MVV-LVA]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6B6D4"/>
                          </a:solidFill>
                        </a:defRPr>
                      </a:pPr>
                      <a:r>
                        <a:t>Search Depth (in 1s)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Depth 2 plies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Depth 3 plies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Depth 4 to 5 plies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06B6D4"/>
                          </a:solidFill>
                        </a:defRPr>
                      </a:pPr>
                      <a:r>
                        <a:t>Solution Soundness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Exact Optimal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Exact Optimal (No Loss)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Exact Optimal (No Loss)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297680"/>
            <a:ext cx="10698480" cy="20116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43484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ALPHA-BETA PRUNING CUTOFF MECHANISM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103327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</a:defRPr>
            </a:pPr>
            <a:r>
              <a:t>Alpha (α): Best score MAX can guarantee so far (-∞)   |   Beta (β): Best score MIN can guarantee so far (+∞)</a:t>
            </a:r>
          </a:p>
          <a:p>
            <a:pPr>
              <a:defRPr sz="1500" b="1">
                <a:solidFill>
                  <a:srgbClr val="EF4444"/>
                </a:solidFill>
              </a:defRPr>
            </a:pPr>
            <a:r>
              <a:t>Condition:  If at any node α ≥ β  ==&gt;  TRIGGER IMMEDIATE BRANCH CUTOFF!</a:t>
            </a:r>
          </a:p>
          <a:p>
            <a:pPr>
              <a:defRPr sz="1200">
                <a:solidFill>
                  <a:srgbClr val="E2E8F0"/>
                </a:solidFill>
              </a:defRPr>
            </a:pPr>
            <a:r>
              <a:t>Eliminates all remaining sibling branches without evaluation, guaranteeing zero heuristic loss.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5–6: ALGORITHMS &amp; HEURISTICS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Heuristic Evaluation &amp; Move Ordering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1. MULTI-FACTOR EVALUATION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901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dirty="0"/>
              <a:t>Eval = Σ Material + Σ </a:t>
            </a:r>
            <a:r>
              <a:rPr dirty="0" err="1"/>
              <a:t>PeSTO</a:t>
            </a:r>
            <a:r>
              <a:rPr dirty="0"/>
              <a:t> Tables + Mobility Delta</a:t>
            </a:r>
          </a:p>
          <a:p>
            <a:br>
              <a:rPr dirty="0"/>
            </a:br>
            <a:r>
              <a:rPr dirty="0">
                <a:solidFill>
                  <a:schemeClr val="bg1"/>
                </a:solidFill>
              </a:rPr>
              <a:t>•  Piece Material Values (Centipawns):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Pawn: 100 | Knight: 320 | Bishop: 330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Rook: 500 | Queen: 900 | King: 20,000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 </a:t>
            </a:r>
            <a:r>
              <a:rPr dirty="0" err="1">
                <a:solidFill>
                  <a:schemeClr val="bg1"/>
                </a:solidFill>
              </a:rPr>
              <a:t>PeSTO</a:t>
            </a:r>
            <a:r>
              <a:rPr dirty="0">
                <a:solidFill>
                  <a:schemeClr val="bg1"/>
                </a:solidFill>
              </a:rPr>
              <a:t> Piece-Square Tables (PST):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Reward center control (d4, e4, d5, e5)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King safety in opening vs King activation in endgame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•  Mobility Advantage: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Dynamic bonus based on total count of legal destinations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766560" y="155448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rPr dirty="0"/>
              <a:t>2. MOVE ORDERING HIERARCHY (MVV-LVA)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4708"/>
            <a:ext cx="4846320" cy="44550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50" b="1">
                <a:solidFill>
                  <a:srgbClr val="F59E0B"/>
                </a:solidFill>
              </a:defRPr>
            </a:pPr>
            <a:r>
              <a:rPr dirty="0"/>
              <a:t>Most Valuable Victim - Least Valuable Attacker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Priority 1: High-Value Captures (MVV-LVA)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Score = 10,000 + 10 × </a:t>
            </a:r>
            <a:r>
              <a:rPr dirty="0" err="1">
                <a:solidFill>
                  <a:schemeClr val="bg1"/>
                </a:solidFill>
              </a:rPr>
              <a:t>VictimValue</a:t>
            </a:r>
            <a:r>
              <a:rPr dirty="0">
                <a:solidFill>
                  <a:schemeClr val="bg1"/>
                </a:solidFill>
              </a:rPr>
              <a:t> - </a:t>
            </a:r>
            <a:r>
              <a:rPr dirty="0" err="1">
                <a:solidFill>
                  <a:schemeClr val="bg1"/>
                </a:solidFill>
              </a:rPr>
              <a:t>AttackerValue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Example: Pawn captures Queen inspected before Queen captures Pawn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Priority 2: Pawn Promotions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Score = +8,000 + </a:t>
            </a:r>
            <a:r>
              <a:rPr dirty="0" err="1">
                <a:solidFill>
                  <a:schemeClr val="bg1"/>
                </a:solidFill>
              </a:rPr>
              <a:t>PromotedPieceValue</a:t>
            </a:r>
            <a:endParaRPr dirty="0">
              <a:solidFill>
                <a:schemeClr val="bg1"/>
              </a:solidFill>
            </a:endParaRP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Priority 3: Delivering Direct Check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Score = +5,000</a:t>
            </a:r>
          </a:p>
          <a:p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Priority 4: Positional Delta</a:t>
            </a:r>
            <a:br>
              <a:rPr dirty="0">
                <a:solidFill>
                  <a:schemeClr val="bg1"/>
                </a:solidFill>
              </a:rPr>
            </a:br>
            <a:r>
              <a:rPr dirty="0">
                <a:solidFill>
                  <a:schemeClr val="bg1"/>
                </a:solidFill>
              </a:rPr>
              <a:t>  Score = Net improvement in </a:t>
            </a:r>
            <a:r>
              <a:rPr dirty="0" err="1">
                <a:solidFill>
                  <a:schemeClr val="bg1"/>
                </a:solidFill>
              </a:rPr>
              <a:t>PeSTO</a:t>
            </a:r>
            <a:r>
              <a:rPr dirty="0">
                <a:solidFill>
                  <a:schemeClr val="bg1"/>
                </a:solidFill>
              </a:rPr>
              <a:t> square value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7–8: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Experimental Setup &amp; Benchmark Test Instances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1. OPENING POSITION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Standard starting chessboard</a:t>
            </a:r>
            <a:br/>
            <a:r>
              <a:t>• Symmetrical 2nd/7th rank</a:t>
            </a:r>
            <a:br/>
            <a:r>
              <a:t>• Legal moves: 20</a:t>
            </a:r>
            <a:br/>
            <a:r>
              <a:t>• Baseline branching b = 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2. TACTICAL MIDDLEGAME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Giuoco Piano tactical setting</a:t>
            </a:r>
            <a:br/>
            <a:r>
              <a:t>• Open diagonals &amp; pin threats</a:t>
            </a:r>
            <a:br/>
            <a:r>
              <a:t>• Legal moves: 38</a:t>
            </a:r>
            <a:br/>
            <a:r>
              <a:t>• High tactical volatility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88619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3. POSITIONAL MIDDLEGAME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5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Sicilian Dragon pawn structure</a:t>
            </a:r>
            <a:br/>
            <a:r>
              <a:t>• Complex center pawn chains</a:t>
            </a:r>
            <a:br/>
            <a:r>
              <a:t>• Legal moves: 44</a:t>
            </a:r>
            <a:br/>
            <a:r>
              <a:t>• Maximum branching b = 44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212080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88619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4. ENDGAME POSITION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5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King + Rook vs King + Pawns</a:t>
            </a:r>
            <a:br/>
            <a:r>
              <a:t>• Low piece count on board</a:t>
            </a:r>
            <a:br/>
            <a:r>
              <a:t>• Legal moves: 15</a:t>
            </a:r>
            <a:br/>
            <a:r>
              <a:t>• Minimal branching b = 15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23304D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FFFF"/>
                </a:solidFill>
              </a:defRPr>
            </a:pPr>
            <a:r>
              <a:t>Benchmark Test Targets:  Evaluate Minimax vs Alpha-Beta vs Ordered Alpha-Beta across depths d ∈ {1, 2, 3}.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7–8: EXPERIMENTAL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Quantitative Test Suite &amp; Telemetry Pipeline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FULL-DUPLEX WEBSOCKET TELEMETRY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Real-Time Telemetry Stream:</a:t>
            </a:r>
            <a:br/>
            <a:r>
              <a:t>  Emits nodes expanded, leaf evaluations, pruned branches, and centipawn score to frontend HUD on every move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Non-Blocking Concurrency:</a:t>
            </a:r>
            <a:br/>
            <a:r>
              <a:t>  AI calculations offloaded to background worker threads, preserving WebSocket ping/pong responsiveness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DoS &amp; Timeout Guard:</a:t>
            </a:r>
            <a:br/>
            <a:r>
              <a:t>  Hard 8.0s timeout per turn; safely falls back to greedy 1-ply baseline to prevent thread starvation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Frame Size Cap:</a:t>
            </a:r>
            <a:br/>
            <a:r>
              <a:t>  Strict 32KB payload ceiling rejects malformed or malicious client packets</a:t>
            </a:r>
            <a:br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AUTOMATED PYTEST VERIFICATION (23 TESTS)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Mathematical Equivalence Assertions:</a:t>
            </a:r>
            <a:br/>
            <a:r>
              <a:t>  Asserts Minimax == Alpha-Beta == Ordered Alpha-Beta yield identical evaluation score and best move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Chess Rules &amp; Edge Cases:</a:t>
            </a:r>
            <a:br/>
            <a:r>
              <a:t>  Validates castling under check, en passant capture, pawn promotion substitution, and 3-fold repetition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Search Pruning Integrity:</a:t>
            </a:r>
            <a:br/>
            <a:r>
              <a:t>  Asserts Alpha-Beta pruned branches &gt; 0 and node evaluations are strictly lower than Minimax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Session Concurrency Limit:</a:t>
            </a:r>
            <a:br/>
            <a:r>
              <a:t>  Stress-tested with 250 concurrent active game sessions</a:t>
            </a:r>
            <a:br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9–10: 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Results: Pruning Efficiency &amp; Leaf Node Reductions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Scenario (Depth 3)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Minimax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Alpha-Beta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10B981"/>
                          </a:solidFill>
                        </a:defRPr>
                      </a:pPr>
                      <a:r>
                        <a:t>Ordered A-B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Opening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8,902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801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508 (-94.3%)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Tactical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48,378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6,867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2,487 (-94.9%)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Positional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67,951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13,231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1,872 (-97.2%)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Endgame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1,909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951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294 (-84.6%)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6217920" cy="16459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MAXIMUM PRUNING: 97.2% REDUCTION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In the Positional Middlegame, Ordered Alpha-Beta evaluated only 1,872 leaf nodes compared to 67,951 nodes in pure Minimax, achieving the identical move (d4c6, +84cp).</a:t>
            </a:r>
          </a:p>
        </p:txBody>
      </p:sp>
      <p:pic>
        <p:nvPicPr>
          <p:cNvPr id="9" name="Picture 8" descr="benchmark_pruning_efficienc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336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9–10: PERFORMANCE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Results: Runtime Speedup &amp; Latency Analysis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463040"/>
          <a:ext cx="621792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216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Scenario (Depth 3)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Minimax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Alpha-Beta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06B6D4"/>
                          </a:solidFill>
                        </a:defRPr>
                      </a:pPr>
                      <a:r>
                        <a:t>Ordered A-B Speedup</a:t>
                      </a:r>
                    </a:p>
                  </a:txBody>
                  <a:tcPr>
                    <a:solidFill>
                      <a:srgbClr val="2330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Opening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1,157.8 ms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112.3 ms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75.0 ms (15.4× faster)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Tactical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7,089.6 ms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1,060.7 ms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440.7 ms (16.1× faster)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Positional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9,478.2 ms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1,819.5 ms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358.1 ms (26.5× faster)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5216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Endgame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170.5 ms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FFFFFF"/>
                          </a:solidFill>
                        </a:defRPr>
                      </a:pPr>
                      <a:r>
                        <a:t>75.7 ms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0B981"/>
                          </a:solidFill>
                        </a:defRPr>
                      </a:pPr>
                      <a:r>
                        <a:t>27.1 ms (6.3× faster)</a:t>
                      </a:r>
                    </a:p>
                  </a:txBody>
                  <a:tcPr>
                    <a:solidFill>
                      <a:srgbClr val="131A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731520" y="4663440"/>
            <a:ext cx="6217920" cy="16459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4800600"/>
            <a:ext cx="5852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REAL-TIME INTERACTION VIABILITY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120640"/>
            <a:ext cx="58521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50">
                <a:solidFill>
                  <a:srgbClr val="E2E8F0"/>
                </a:solidFill>
              </a:defRPr>
            </a:pPr>
            <a:r>
              <a:t>Minimax took ~9.5 seconds per move in positional positions (unusable for web play). Ordered Alpha-Beta reduced turn latency to 358 ms, enabling seamless interactive gameplay.</a:t>
            </a:r>
          </a:p>
        </p:txBody>
      </p:sp>
      <p:pic>
        <p:nvPicPr>
          <p:cNvPr id="9" name="Picture 8" descr="benchmark_depth_vs_runti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463040"/>
            <a:ext cx="4206240" cy="23368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11: ERROR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Error Analysis, Failure Modes &amp; Scalability Limits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338328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t>1. THE HORIZON EFFECT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Definition:</a:t>
            </a:r>
            <a:br/>
            <a:r>
              <a:t>  The agent pushes unavoidable tactical losses beyond the fixed search depth limit (e.g. depth 3)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Failure Manifestation:</a:t>
            </a:r>
            <a:br/>
            <a:r>
              <a:t>  Sacrifices pawns or minor pieces to delay a fatal queen loss by one ply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Solution (Fix):</a:t>
            </a:r>
            <a:br/>
            <a:r>
              <a:t>  Implement Quiescence Search for all capture and check sequences</a:t>
            </a:r>
            <a:br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38328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2. TRANSPOSITION REDUNDANCY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Definition:</a:t>
            </a:r>
            <a:br/>
            <a:r>
              <a:t>  Identical board states reached through different move sequences are re-evaluated from scratch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Failure Manifestation:</a:t>
            </a:r>
            <a:br/>
            <a:r>
              <a:t>  Duplicate subtree evaluations in symmetrical openings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Solution (Fix):</a:t>
            </a:r>
            <a:br/>
            <a:r>
              <a:t>  Zobrist Hash Transposition Tables with exact, lower, and upper bound flags</a:t>
            </a:r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8046720" y="1463040"/>
            <a:ext cx="3383280" cy="48463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160020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3. SCALABILITY LIMITS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201168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Python GIL Overhead:</a:t>
            </a:r>
            <a:br/>
            <a:r>
              <a:t>  Pure Python object creation limits search to ~10,000 nodes/sec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Depth 4/5 Scaling:</a:t>
            </a:r>
            <a:br/>
            <a:r>
              <a:t>  Depth 4 takes ~2.5s; Depth 5 exceeds real-time interactive latency without C++ engine core</a:t>
            </a:r>
            <a:br/>
            <a:endParaRPr/>
          </a:p>
          <a:p>
            <a:pPr>
              <a:defRPr sz="1200">
                <a:solidFill>
                  <a:srgbClr val="E2E8F0"/>
                </a:solidFill>
              </a:defRPr>
            </a:pPr>
            <a:r>
              <a:t>•  Mitigation In Place:</a:t>
            </a:r>
            <a:br/>
            <a:r>
              <a:t>  8-second hard timeout thread cutoff with greedy baseline fallback</a:t>
            </a:r>
            <a:br/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SLIDE 12: CONCLUSION &amp; FUTURE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Conclusion, Ethical Implications &amp; Future Scope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120640" cy="38404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754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PROJECT ACHIEVEMENTS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47548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✔  Production-grade adversarial AI engine deployed on the cloud</a:t>
            </a:r>
            <a:br/>
            <a:endParaRPr/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✔  Empirical proof of 97.2% search tree pruning via MVV-LVA move ordering</a:t>
            </a:r>
            <a:br/>
            <a:endParaRPr/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✔  Full-duplex WebSocket architecture with live search telemetry HUD</a:t>
            </a:r>
            <a:br/>
            <a:endParaRPr/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✔  Rigorous verification: 23 passing Pytest unit &amp; benchmark tests</a:t>
            </a:r>
            <a:br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384048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FUTURE RESEARCH ROADMAP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48463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/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➔  Quiescence Search: Tactical exchange extension to eliminate horizon effect</a:t>
            </a:r>
            <a:br/>
            <a:endParaRPr/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➔  Zobrist Transposition Tables: Cache exact evaluations of explored positions</a:t>
            </a:r>
            <a:br/>
            <a:endParaRPr/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➔  Polyglot Opening Book: Instant 0ms grandmaster opening repertoire</a:t>
            </a:r>
            <a:br/>
            <a:endParaRPr/>
          </a:p>
          <a:p>
            <a:pPr>
              <a:defRPr sz="1250">
                <a:solidFill>
                  <a:srgbClr val="E2E8F0"/>
                </a:solidFill>
              </a:defRPr>
            </a:pPr>
            <a:r>
              <a:t>➔  Rust / C++ Engine Core: Compile to WebAssembly for client-side multi-threading</a:t>
            </a:r>
            <a:br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731520" y="5486400"/>
            <a:ext cx="10698480" cy="91440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5623560"/>
            <a:ext cx="10332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ETHICAL IMPLICATION: TRANSPARENCY IN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806440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E2E8F0"/>
                </a:solidFill>
              </a:defRPr>
            </a:pPr>
            <a:r>
              <a:t>Exposing search telemetry (eval, nodes, cuts) in real time demystifies 'black box' AI decision making for educational learners.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0F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DEMONSTRATION &amp; Q&amp;A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Live Software Demonstration (5-Minute Protocol)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5212080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</a:defRPr>
            </a:pPr>
            <a:r>
              <a:t>Step 1: UI &amp; Engine Config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Select AI Strategy (Alpha-Beta + Move Ordering) and Search Depth (Depth 3). Choose White or Black.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463040"/>
            <a:ext cx="5212080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0" y="1600200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</a:defRPr>
            </a:pPr>
            <a:r>
              <a:t>Step 2: Interactive Play &amp; Telemetry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965960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Execute opening move 'e4'. Observe live HUD: &lt; 100ms runtime, node counter, and centipawn eval.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5212080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88619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</a:defRPr>
            </a:pPr>
            <a:r>
              <a:t>Step 3: Baseline Comparison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5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Switch strategy mid-game to Greedy (1-ply) or Random to visually demonstrate tactical blindness.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3749039"/>
            <a:ext cx="5212080" cy="2103120"/>
          </a:xfrm>
          <a:prstGeom prst="roundRect">
            <a:avLst/>
          </a:prstGeom>
          <a:solidFill>
            <a:srgbClr val="131A2A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0" y="3886199"/>
            <a:ext cx="4846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F4444"/>
                </a:solidFill>
              </a:defRPr>
            </a:pPr>
            <a:r>
              <a:rPr dirty="0"/>
              <a:t>Step 4: Game Over &amp; Review Mode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4251959"/>
            <a:ext cx="48463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E2E8F0"/>
                </a:solidFill>
              </a:defRPr>
            </a:pPr>
            <a:r>
              <a:t>Deliver checkmate. Demonstrate 1.8s move reveal, Decisive Move Card, and Review Board mode.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5577840"/>
            <a:ext cx="10698480" cy="822960"/>
          </a:xfrm>
          <a:prstGeom prst="roundRect">
            <a:avLst/>
          </a:prstGeom>
          <a:solidFill>
            <a:srgbClr val="23304D"/>
          </a:solidFill>
          <a:ln w="19050">
            <a:solidFill>
              <a:srgbClr val="23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623560"/>
            <a:ext cx="4542718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06B6D4"/>
                </a:solidFill>
              </a:defRPr>
            </a:pPr>
            <a:r>
              <a:rPr dirty="0"/>
              <a:t>Live Deployment URL:  </a:t>
            </a:r>
            <a:r>
              <a:rPr lang="en-IN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https://chess-game-ulzx.onrender.com/</a:t>
            </a:r>
            <a:endParaRPr dirty="0">
              <a:solidFill>
                <a:schemeClr val="bg1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med" p14:dur="600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2426</Words>
  <Application>Microsoft Office PowerPoint</Application>
  <PresentationFormat>Widescreen</PresentationFormat>
  <Paragraphs>237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Nishant Ambaliya</cp:lastModifiedBy>
  <cp:revision>1</cp:revision>
  <dcterms:created xsi:type="dcterms:W3CDTF">2013-01-27T09:14:16Z</dcterms:created>
  <dcterms:modified xsi:type="dcterms:W3CDTF">2026-10-28T13:25:52Z</dcterms:modified>
  <cp:category/>
</cp:coreProperties>
</file>